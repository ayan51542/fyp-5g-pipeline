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60" r:id="rId6"/>
    <p:sldId id="261" r:id="rId7"/>
    <p:sldId id="263" r:id="rId8"/>
    <p:sldId id="262" r:id="rId9"/>
    <p:sldId id="269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06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D93D3-F9FD-4D8A-57F2-C76DCC8B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EBBEFA-B97E-288B-09A6-F06FB6CF6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2AB06-F790-13D8-E977-87639E44B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85A59-4610-12F0-C861-526657B2E7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23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DF62-A5EE-2095-3503-E6A0B4F4D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F552B-1B74-8940-842D-66EF3B733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09FAC-128C-E23B-36B9-4CEACB436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1C8FC-07D1-6411-6B75-685571936D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53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8942832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1645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– NUCES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137160"/>
            <a:ext cx="164592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132320" y="137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4092 – FYP II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Security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5G Communication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Jamming Detection &amp; Active Mitigation in Cognitive Radio Networks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154680"/>
            <a:ext cx="50292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Mujtaba Junaid  22K-8709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639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Rayan Farhan  22K-4102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Muhammad Zakaria  22K-4728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6177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 Evaluation  ·  April 2026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1097280"/>
            <a:ext cx="2286000" cy="2286000"/>
          </a:xfrm>
          <a:prstGeom prst="ellipse">
            <a:avLst/>
          </a:prstGeom>
          <a:solidFill>
            <a:srgbClr val="00A896">
              <a:alpha val="12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903720" y="1417320"/>
            <a:ext cx="1645920" cy="164592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949440" y="155448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</a:t>
            </a:r>
            <a:endParaRPr lang="en-US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8D9041-43E8-C8BB-5566-4FEFC3D6888F}"/>
              </a:ext>
            </a:extLst>
          </p:cNvPr>
          <p:cNvSpPr txBox="1"/>
          <p:nvPr/>
        </p:nvSpPr>
        <p:spPr>
          <a:xfrm>
            <a:off x="5281282" y="3913632"/>
            <a:ext cx="3573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Supervisor: Dr. Farrukh Shahid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Co-Supervisor: Dr. Shahbaz Siddique</a:t>
            </a:r>
            <a:endParaRPr lang="en-PK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Physical Layer Security matters in 5G CRNs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274320" y="196596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274320" y="19659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" y="2386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Multi-node CRN pipeline, OFDM, QAM, AES-256-GCM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274320" y="29260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9808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Jamming agent, Gaussian Barrage &amp; Reactive Bit-Flipping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274320" y="388620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Sensing &amp; Analytics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Urkowitz energy detection, 183 visualisation plots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754880" y="100584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Models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0368" y="1426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XGBoost, DNN, 1D-CNN, LSTM on 96 K-file dataset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1" name="Shape 29"/>
          <p:cNvSpPr/>
          <p:nvPr/>
        </p:nvSpPr>
        <p:spPr>
          <a:xfrm>
            <a:off x="4754880" y="196596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754880" y="19659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(CTGAN)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23865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augmentation via Conditional Tabular GAN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754880" y="29260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30368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Metrics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30368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SINR, spectral heatmaps, power envelopes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2062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1" name="Shape 39"/>
          <p:cNvSpPr/>
          <p:nvPr/>
        </p:nvSpPr>
        <p:spPr>
          <a:xfrm>
            <a:off x="4754880" y="3886200"/>
            <a:ext cx="411480" cy="8046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754880" y="388620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39319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4306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real-time deployment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6576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Scarcity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Explosion of 5G-connected devices has exhausted available radio spectrum, necessitating dynamic access via Cognitive Radio Networks (CRNs).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36576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3756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Vulnerabilities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37560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CRN spectrum is exposed to RF jamming attacks — Gaussian Barrage &amp; Reactive Bit-Flipping — that destroy signal integrity and deny service.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365760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Intelligent Defence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237744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simulators abstract signal energy rather than modelling it from raw modulated data, creating fidelity gaps and lacking autonomous AI-driven countermeasures.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high-fidelity, data-driven 5G CRN simulation framework with autonomous real-time jamming detection and active mitigation via 5 trained ML models.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CF9CE-A1C7-8155-98FF-D022A86F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9FDD89-843D-7CB6-1827-159A32358701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8AFA1F-6C90-FF25-1173-52FE104AD17D}"/>
              </a:ext>
            </a:extLst>
          </p:cNvPr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9C35070-5D3B-0510-7DD2-7960442E3FA4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5D01D-4CB7-4E5F-0468-EC19636D1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6968"/>
            <a:ext cx="9144000" cy="425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47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&amp; Jamming Infrastructure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291840"/>
          </a:xfrm>
          <a:prstGeom prst="rect">
            <a:avLst/>
          </a:prstGeom>
          <a:solidFill>
            <a:srgbClr val="162447"/>
          </a:solidFill>
          <a:ln w="1905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59536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Barrage Jamming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7059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High-power broadband noise flooding the Base Station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912" y="2084832"/>
            <a:ext cx="5580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Wideband interference spanning full signal spectrum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912" y="2596896"/>
            <a:ext cx="5977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signal-to-noise ratio collapse across all subcarriers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8912" y="3108960"/>
            <a:ext cx="5657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mitigate without spectral sensing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4320" y="4343400"/>
            <a:ext cx="8595360" cy="658368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Response Pipeline: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I/Q Samples  →  Energy Envelope  →  ML Classifier  →  Adaptive Modulation &amp; Coding  →  Time-Domain Backoff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Sensing &amp; Visual Analytics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Urkowitz Energy Detection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energy envelopes computed directly from OFDM I/Q samples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spectrum occupancy detection (Urkowitz model)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Matplotlib engine (Agg backend) for crash-free analytics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granular plots exported per session — 183 plots in current run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4290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constellation distortion &amp; SINR degradation visualisations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32688"/>
            <a:ext cx="4114800" cy="171907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63440" y="26517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QAM-16 Constellation (R1)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2944368"/>
            <a:ext cx="42062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962656"/>
            <a:ext cx="4114800" cy="1719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63440" y="486460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Occupancy – Urkowitz Detection Threshold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Generation – CTGAN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87552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Loading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metadata definitions and stratified sampling ensure equal class representation across Gaussian, Pulsed and Clean RF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60520" cy="169164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892040" y="118872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892040" y="1188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Training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68112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Tabular GAN trained on multi-modal RF feature distributions; minority classes synthesised to balance the training corpus.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11480" y="310896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1148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87552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TSTR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87552" y="35204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Train-on-Synthetic, Test-on-Real protocol validates that synthetic samples preserve physical-layer statistical fidelity.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60520" cy="1691640"/>
          </a:xfrm>
          <a:prstGeom prst="rect">
            <a:avLst/>
          </a:prstGeom>
          <a:solidFill>
            <a:srgbClr val="162447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892040" y="3108960"/>
            <a:ext cx="475488" cy="47548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892040" y="3108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31272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Evaluation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35204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Density Estimation plots confirm that synthetic feature distributions closely match real captured RF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Balanced synthetic RF datasets augment the real 96,090-file corpus, improving minority-class detection accuracy across all 5 ML models.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&amp; Model Comparison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RF Jamming Dataset  ·  96,090 files  ·  3 classes: Clean / Gaussian / Pulsed Jamming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1600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6002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274320" y="15544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Size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files (in-memory)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798064"/>
            <a:ext cx="1417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ensemble baseline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1554480"/>
            <a:ext cx="1600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1993392" y="1554480"/>
            <a:ext cx="16002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1993392" y="15544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Size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084832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 files (GPU streaming)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84832" y="2798064"/>
            <a:ext cx="1417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2084832" y="2889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Out-of-core gradient boosting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12464" y="1554480"/>
            <a:ext cx="1600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3712464" y="1554480"/>
            <a:ext cx="160020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3712464" y="15544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Size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03904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96,090 files (full dataset)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03904" y="2798064"/>
            <a:ext cx="1417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3803904" y="2889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31536" y="1554480"/>
            <a:ext cx="1600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3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5431536" y="1554480"/>
            <a:ext cx="16002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5431536" y="15544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Size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22976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96,090 files (buffered gen.)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22976" y="2798064"/>
            <a:ext cx="1417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5522976" y="2889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 extraction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50608" y="1554480"/>
            <a:ext cx="160020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BF36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7150608" y="1554480"/>
            <a:ext cx="1600200" cy="438912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7150608" y="155448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42048" y="2103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Size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42048" y="23591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96,090 files (sequence gen.)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42048" y="2798064"/>
            <a:ext cx="141732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7242048" y="2889504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solidFill>
            <a:srgbClr val="0D1B3E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457200" y="4270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Out-of-Core Architecture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memory strategy prevents Kaggle OOM errors: RF (10K in-memory) → XGBoost (30K GPU-streamed) → DL models (96K buffered generators). Trained models injected directly into Python receiver for real-time inference.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490B0B-D3FC-36CA-4DDC-A7E19F4C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9AE11E-99EB-CDA8-78AA-9E12F4375C53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39E7E5B-E9B4-BDB0-0A9C-87A46637E469}"/>
              </a:ext>
            </a:extLst>
          </p:cNvPr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9F11AB8-BA1A-72FD-BA71-1BF849798AC0}"/>
              </a:ext>
            </a:extLst>
          </p:cNvPr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Metrics</a:t>
            </a:r>
            <a:r>
              <a:rPr lang="en-PK" dirty="0"/>
              <a:t>s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0AA02D4-4959-4722-CF85-17996C6E958D}"/>
              </a:ext>
            </a:extLst>
          </p:cNvPr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RF Jamming Dataset  ·  96,090 files  ·  3 classes: Clean / Gaussian / Pulsed Jamming</a:t>
            </a:r>
            <a:endParaRPr lang="en-US" sz="115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7154FE-2E93-B912-5AC1-BD54F96E0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059181"/>
            <a:ext cx="8778240" cy="355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791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Metrics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663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32688"/>
            <a:ext cx="4572000" cy="21762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3200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 Degradation Over Transmission (18 messages, QAM-16, 20 dB SNR)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120640" y="914400"/>
            <a:ext cx="3749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932688"/>
            <a:ext cx="3657600" cy="21762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3200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Evolution Heatmap – Power vs. Frequency Bin across Messages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274320" y="3566160"/>
            <a:ext cx="4206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584448"/>
            <a:ext cx="4114800" cy="1307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4320" y="49834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Envelope – Urkowitz detection threshold (red dashed)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66344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4663440" y="3886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 maintained at 20 dB across all 18 messages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4663440" y="4178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SINR gradually degrades from 13 → 11 dB under sustained interference — stays above noise floor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63440" y="4471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energy confined to low-frequency bins confirming clean spectrum allocation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4663440" y="4764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envelope threshold breach triggers ML-based jammer alert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37888" y="777240"/>
            <a:ext cx="73152" cy="367588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343400" y="100584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77640" cy="457200"/>
          </a:xfrm>
          <a:prstGeom prst="rect">
            <a:avLst/>
          </a:prstGeom>
          <a:solidFill>
            <a:srgbClr val="162447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65760" y="9509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'25  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338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– Initial OFDM Pipeline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800600" y="1417320"/>
            <a:ext cx="3977640" cy="457200"/>
          </a:xfrm>
          <a:prstGeom prst="rect">
            <a:avLst/>
          </a:prstGeom>
          <a:solidFill>
            <a:srgbClr val="162447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892040" y="14538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'25 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92040" y="16367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– Sender/Receiver + Base Station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43400" y="201168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3977640" cy="457200"/>
          </a:xfrm>
          <a:prstGeom prst="rect">
            <a:avLst/>
          </a:prstGeom>
          <a:solidFill>
            <a:srgbClr val="162447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36576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'25  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13969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1.3–1.6 – Agents, Plots, Spectrum Sensing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43400" y="251460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4800600" y="2423160"/>
            <a:ext cx="3977640" cy="457200"/>
          </a:xfrm>
          <a:prstGeom prst="rect">
            <a:avLst/>
          </a:prstGeom>
          <a:solidFill>
            <a:srgbClr val="0D2B45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892040" y="245973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'26 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6426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– Network Scaling &amp; Pre-emption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43400" y="301752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3977640" cy="457200"/>
          </a:xfrm>
          <a:prstGeom prst="rect">
            <a:avLst/>
          </a:prstGeom>
          <a:solidFill>
            <a:srgbClr val="0D2B45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365760" y="29626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 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4553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2.2–2.3 – Jamming Agent &amp; Analytics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43400" y="352044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800600" y="3429000"/>
            <a:ext cx="3977640" cy="457200"/>
          </a:xfrm>
          <a:prstGeom prst="rect">
            <a:avLst/>
          </a:prstGeom>
          <a:solidFill>
            <a:srgbClr val="0D2B45"/>
          </a:solidFill>
          <a:ln w="1016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4892040" y="346557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'26  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6484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2.4–2.5 – CTGAN + 5 ML Models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396849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64820" y="1027568"/>
            <a:ext cx="5166880" cy="344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0539" y="1483048"/>
            <a:ext cx="80086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 multi-node 5G CRN simulation with thread-safe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0539" y="1912816"/>
            <a:ext cx="80086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realistic jamming attack vectors modelled and injected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0539" y="2342584"/>
            <a:ext cx="74154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Urkowitz energy detection with 183 analytical visualisation plots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0539" y="2772352"/>
            <a:ext cx="74154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pipeline across 5 models trained on 96,090-file RF dataset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10540" y="3202120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synthetic augmentation with TSTR + KDE validation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0540" y="3631888"/>
            <a:ext cx="5052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real-time AI detection loop integrated into receiver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365760" y="4526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Kaggle Notebook:  kaggle.com/code/mujtabajunaid/fyp-final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3200400" y="1017270"/>
            <a:ext cx="2743200" cy="2743200"/>
          </a:xfrm>
          <a:prstGeom prst="ellipse">
            <a:avLst/>
          </a:prstGeom>
          <a:solidFill>
            <a:srgbClr val="00A896">
              <a:alpha val="12000"/>
            </a:srgbClr>
          </a:solidFill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3566160" y="1383030"/>
            <a:ext cx="2011680" cy="201168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200400" y="101727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74320" y="48006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Security in 5G Communication  ·  FAST-NUCES Karachi  ·  April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898</Words>
  <Application>Microsoft Office PowerPoint</Application>
  <PresentationFormat>On-screen Show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Layer Security in 5G Communication – FYP Evaluation</dc:title>
  <dc:subject>PptxGenJS Presentation</dc:subject>
  <dc:creator>PptxGenJS</dc:creator>
  <cp:lastModifiedBy>Rayan Farhan</cp:lastModifiedBy>
  <cp:revision>3</cp:revision>
  <dcterms:created xsi:type="dcterms:W3CDTF">2026-04-11T22:21:01Z</dcterms:created>
  <dcterms:modified xsi:type="dcterms:W3CDTF">2026-04-12T13:34:07Z</dcterms:modified>
</cp:coreProperties>
</file>